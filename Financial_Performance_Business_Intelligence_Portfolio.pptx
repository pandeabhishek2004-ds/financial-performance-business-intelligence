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D3AF76-D9DE-4ACD-8F32-31E8958CBAAE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B58FB3-5E19-4577-94F6-2FD6B02BB6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75645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B58FB3-5E19-4577-94F6-2FD6B02BB6DE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52159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594360"/>
            <a:ext cx="713232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dirty="0">
                <a:solidFill>
                  <a:srgbClr val="38BDF8"/>
                </a:solidFill>
                <a:latin typeface="Aptos"/>
              </a:rPr>
              <a:t>FINANCIAL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87552"/>
            <a:ext cx="98755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 dirty="0">
                <a:solidFill>
                  <a:srgbClr val="F8FAFC"/>
                </a:solidFill>
                <a:latin typeface="Aptos"/>
              </a:rPr>
              <a:t>&amp; BUSINESS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783080"/>
            <a:ext cx="89611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CBD5E1"/>
                </a:solidFill>
                <a:latin typeface="Aptos"/>
              </a:rPr>
              <a:t>A Power BI case study on revenue, profitability, risk and management decisions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2606040"/>
            <a:ext cx="3840480" cy="2240280"/>
          </a:xfrm>
          <a:prstGeom prst="roundRect">
            <a:avLst/>
          </a:prstGeom>
          <a:solidFill>
            <a:srgbClr val="0F1C2E"/>
          </a:solidFill>
          <a:ln w="10160">
            <a:solidFill>
              <a:srgbClr val="263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32688" y="2852928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38BDF8"/>
                </a:solidFill>
                <a:latin typeface="Aptos"/>
              </a:rPr>
              <a:t>THE CORE QUESTION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3218688"/>
            <a:ext cx="324612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F8FAFC"/>
                </a:solidFill>
                <a:latin typeface="Aptos"/>
              </a:rPr>
              <a:t>Where is the business
making money — and
where is profit under pressure?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5257800"/>
            <a:ext cx="1874519" cy="914400"/>
          </a:xfrm>
          <a:prstGeom prst="roundRect">
            <a:avLst/>
          </a:prstGeom>
          <a:solidFill>
            <a:srgbClr val="0F1C2E"/>
          </a:solidFill>
          <a:ln w="10160">
            <a:solidFill>
              <a:srgbClr val="263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50392" y="5376672"/>
            <a:ext cx="1600199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94A3B8"/>
                </a:solidFill>
                <a:latin typeface="Aptos"/>
              </a:rPr>
              <a:t>SALES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" y="5623560"/>
            <a:ext cx="160019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38BDF8"/>
                </a:solidFill>
                <a:latin typeface="Aptos"/>
              </a:rPr>
              <a:t>118.73M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12033" y="5257800"/>
            <a:ext cx="1874519" cy="914400"/>
          </a:xfrm>
          <a:prstGeom prst="roundRect">
            <a:avLst/>
          </a:prstGeom>
          <a:solidFill>
            <a:srgbClr val="0F1C2E"/>
          </a:solidFill>
          <a:ln w="10160">
            <a:solidFill>
              <a:srgbClr val="263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862072" y="5376672"/>
            <a:ext cx="1600199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dirty="0">
                <a:solidFill>
                  <a:srgbClr val="94A3B8"/>
                </a:solidFill>
                <a:latin typeface="Aptos"/>
              </a:rPr>
              <a:t>PROFIT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62072" y="5623560"/>
            <a:ext cx="160019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dirty="0">
                <a:solidFill>
                  <a:srgbClr val="34D399"/>
                </a:solidFill>
                <a:latin typeface="Aptos"/>
              </a:rPr>
              <a:t>16.89M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36592" y="5257800"/>
            <a:ext cx="1874519" cy="914400"/>
          </a:xfrm>
          <a:prstGeom prst="roundRect">
            <a:avLst/>
          </a:prstGeom>
          <a:solidFill>
            <a:srgbClr val="0F1C2E"/>
          </a:solidFill>
          <a:ln w="10160">
            <a:solidFill>
              <a:srgbClr val="263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873752" y="5376672"/>
            <a:ext cx="1600199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dirty="0">
                <a:solidFill>
                  <a:srgbClr val="94A3B8"/>
                </a:solidFill>
                <a:latin typeface="Aptos"/>
              </a:rPr>
              <a:t>MARGIN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73752" y="5623560"/>
            <a:ext cx="160019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dirty="0">
                <a:solidFill>
                  <a:srgbClr val="8B5CF6"/>
                </a:solidFill>
                <a:latin typeface="Aptos"/>
              </a:rPr>
              <a:t>14.23%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748272" y="5257800"/>
            <a:ext cx="1874519" cy="914400"/>
          </a:xfrm>
          <a:prstGeom prst="roundRect">
            <a:avLst/>
          </a:prstGeom>
          <a:solidFill>
            <a:srgbClr val="0F1C2E"/>
          </a:solidFill>
          <a:ln w="10160">
            <a:solidFill>
              <a:srgbClr val="263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885432" y="5376672"/>
            <a:ext cx="1600199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94A3B8"/>
                </a:solidFill>
                <a:latin typeface="Aptos"/>
              </a:rPr>
              <a:t>LOSS RECORDS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85432" y="5623560"/>
            <a:ext cx="160019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FB7185"/>
                </a:solidFill>
                <a:latin typeface="Aptos"/>
              </a:rPr>
              <a:t>8.29%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510528"/>
            <a:ext cx="54864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Aptos"/>
              </a:rPr>
              <a:t>Financial Performance &amp; Business Intelligence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E44C4AD-49C7-3222-43E9-8528F1109D51}"/>
              </a:ext>
            </a:extLst>
          </p:cNvPr>
          <p:cNvSpPr/>
          <p:nvPr/>
        </p:nvSpPr>
        <p:spPr>
          <a:xfrm>
            <a:off x="4873752" y="2192594"/>
            <a:ext cx="6905293" cy="288232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22ED42C9-111A-441D-9774-E238D85143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3752" y="2192595"/>
            <a:ext cx="6905293" cy="288232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38BDF8"/>
                </a:solidFill>
                <a:latin typeface="Aptos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256032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8FAFC"/>
                </a:solidFill>
                <a:latin typeface="Aptos"/>
              </a:rPr>
              <a:t>Why I built this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804672"/>
            <a:ext cx="10332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CBD5E1"/>
                </a:solidFill>
                <a:latin typeface="Aptos"/>
              </a:rPr>
              <a:t>The idea was not to make another sales dashboard.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3474720" cy="4526280"/>
          </a:xfrm>
          <a:prstGeom prst="roundRect">
            <a:avLst/>
          </a:prstGeom>
          <a:solidFill>
            <a:srgbClr val="0F1C2E"/>
          </a:solidFill>
          <a:ln w="10160">
            <a:solidFill>
              <a:srgbClr val="263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737360"/>
            <a:ext cx="2377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38BDF8"/>
                </a:solidFill>
                <a:latin typeface="Aptos"/>
              </a:rPr>
              <a:t>WHY?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240280"/>
            <a:ext cx="27432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F8FAFC"/>
                </a:solidFill>
                <a:latin typeface="Aptos"/>
              </a:rPr>
              <a:t>Sales alone don't tell the full story.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246120"/>
            <a:ext cx="274320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38BDF8"/>
                </a:solidFill>
                <a:latin typeface="Aptos"/>
              </a:rPr>
              <a:t>• </a:t>
            </a:r>
            <a:r>
              <a:rPr sz="1400">
                <a:solidFill>
                  <a:srgbClr val="CBD5E1"/>
                </a:solidFill>
                <a:latin typeface="Aptos"/>
              </a:rPr>
              <a:t>A business can have strong sales and still lose margin.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38BDF8"/>
                </a:solidFill>
                <a:latin typeface="Aptos"/>
              </a:rPr>
              <a:t>• </a:t>
            </a:r>
            <a:r>
              <a:rPr sz="1400">
                <a:solidFill>
                  <a:srgbClr val="CBD5E1"/>
                </a:solidFill>
                <a:latin typeface="Aptos"/>
              </a:rPr>
              <a:t>Discounts can increase sales while putting pressure on profit.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38BDF8"/>
                </a:solidFill>
                <a:latin typeface="Aptos"/>
              </a:rPr>
              <a:t>• </a:t>
            </a:r>
            <a:r>
              <a:rPr sz="1400">
                <a:solidFill>
                  <a:srgbClr val="CBD5E1"/>
                </a:solidFill>
                <a:latin typeface="Aptos"/>
              </a:rPr>
              <a:t>Management needs to know where to look next, not just what happened.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417320"/>
            <a:ext cx="3474720" cy="4526280"/>
          </a:xfrm>
          <a:prstGeom prst="roundRect">
            <a:avLst/>
          </a:prstGeom>
          <a:solidFill>
            <a:srgbClr val="0F1C2E"/>
          </a:solidFill>
          <a:ln w="10160">
            <a:solidFill>
              <a:srgbClr val="263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17720" y="1737360"/>
            <a:ext cx="2377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8B5CF6"/>
                </a:solidFill>
                <a:latin typeface="Aptos"/>
              </a:rPr>
              <a:t>WHAT?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2240280"/>
            <a:ext cx="27432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F8FAFC"/>
                </a:solidFill>
                <a:latin typeface="Aptos"/>
              </a:rPr>
              <a:t>A 6-page financial intelligence dashboard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3246120"/>
            <a:ext cx="274320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38BDF8"/>
                </a:solidFill>
                <a:latin typeface="Aptos"/>
              </a:rPr>
              <a:t>• </a:t>
            </a:r>
            <a:r>
              <a:rPr sz="1400">
                <a:solidFill>
                  <a:srgbClr val="CBD5E1"/>
                </a:solidFill>
                <a:latin typeface="Aptos"/>
              </a:rPr>
              <a:t>Executive performance overview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38BDF8"/>
                </a:solidFill>
                <a:latin typeface="Aptos"/>
              </a:rPr>
              <a:t>• </a:t>
            </a:r>
            <a:r>
              <a:rPr sz="1400">
                <a:solidFill>
                  <a:srgbClr val="CBD5E1"/>
                </a:solidFill>
                <a:latin typeface="Aptos"/>
              </a:rPr>
              <a:t>Revenue &amp; profitability trends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38BDF8"/>
                </a:solidFill>
                <a:latin typeface="Aptos"/>
              </a:rPr>
              <a:t>• </a:t>
            </a:r>
            <a:r>
              <a:rPr sz="1400">
                <a:solidFill>
                  <a:srgbClr val="CBD5E1"/>
                </a:solidFill>
                <a:latin typeface="Aptos"/>
              </a:rPr>
              <a:t>Segment, country &amp; product analysis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38BDF8"/>
                </a:solidFill>
                <a:latin typeface="Aptos"/>
              </a:rPr>
              <a:t>• </a:t>
            </a:r>
            <a:r>
              <a:rPr sz="1400">
                <a:solidFill>
                  <a:srgbClr val="CBD5E1"/>
                </a:solidFill>
                <a:latin typeface="Aptos"/>
              </a:rPr>
              <a:t>Profitability risk and discount exposure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38BDF8"/>
                </a:solidFill>
                <a:latin typeface="Aptos"/>
              </a:rPr>
              <a:t>• </a:t>
            </a:r>
            <a:r>
              <a:rPr sz="1400">
                <a:solidFill>
                  <a:srgbClr val="CBD5E1"/>
                </a:solidFill>
                <a:latin typeface="Aptos"/>
              </a:rPr>
              <a:t>Management decision signals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38BDF8"/>
                </a:solidFill>
                <a:latin typeface="Aptos"/>
              </a:rPr>
              <a:t>• </a:t>
            </a:r>
            <a:r>
              <a:rPr sz="1400">
                <a:solidFill>
                  <a:srgbClr val="CBD5E1"/>
                </a:solidFill>
                <a:latin typeface="Aptos"/>
              </a:rPr>
              <a:t>Global financial footprint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417320"/>
            <a:ext cx="3474720" cy="4526280"/>
          </a:xfrm>
          <a:prstGeom prst="roundRect">
            <a:avLst/>
          </a:prstGeom>
          <a:solidFill>
            <a:srgbClr val="0F1C2E"/>
          </a:solidFill>
          <a:ln w="10160">
            <a:solidFill>
              <a:srgbClr val="263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66760" y="1737360"/>
            <a:ext cx="2377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2D3EE"/>
                </a:solidFill>
                <a:latin typeface="Aptos"/>
              </a:rPr>
              <a:t>WHICH / WHERE?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2240280"/>
            <a:ext cx="27432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F8FAFC"/>
                </a:solidFill>
                <a:latin typeface="Aptos"/>
              </a:rPr>
              <a:t>Which areas deserve attention?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3246120"/>
            <a:ext cx="274320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38BDF8"/>
                </a:solidFill>
                <a:latin typeface="Aptos"/>
              </a:rPr>
              <a:t>• </a:t>
            </a:r>
            <a:r>
              <a:rPr sz="1400">
                <a:solidFill>
                  <a:srgbClr val="CBD5E1"/>
                </a:solidFill>
                <a:latin typeface="Aptos"/>
              </a:rPr>
              <a:t>Which segments drive profit?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38BDF8"/>
                </a:solidFill>
                <a:latin typeface="Aptos"/>
              </a:rPr>
              <a:t>• </a:t>
            </a:r>
            <a:r>
              <a:rPr sz="1400">
                <a:solidFill>
                  <a:srgbClr val="CBD5E1"/>
                </a:solidFill>
                <a:latin typeface="Aptos"/>
              </a:rPr>
              <a:t>Which countries perform better?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38BDF8"/>
                </a:solidFill>
                <a:latin typeface="Aptos"/>
              </a:rPr>
              <a:t>• </a:t>
            </a:r>
            <a:r>
              <a:rPr sz="1400">
                <a:solidFill>
                  <a:srgbClr val="CBD5E1"/>
                </a:solidFill>
                <a:latin typeface="Aptos"/>
              </a:rPr>
              <a:t>Which products create losses?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38BDF8"/>
                </a:solidFill>
                <a:latin typeface="Aptos"/>
              </a:rPr>
              <a:t>• </a:t>
            </a:r>
            <a:r>
              <a:rPr sz="1400">
                <a:solidFill>
                  <a:srgbClr val="CBD5E1"/>
                </a:solidFill>
                <a:latin typeface="Aptos"/>
              </a:rPr>
              <a:t>Where is discount exposure highest?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38BDF8"/>
                </a:solidFill>
                <a:latin typeface="Aptos"/>
              </a:rPr>
              <a:t>• </a:t>
            </a:r>
            <a:r>
              <a:rPr sz="1400">
                <a:solidFill>
                  <a:srgbClr val="CBD5E1"/>
                </a:solidFill>
                <a:latin typeface="Aptos"/>
              </a:rPr>
              <a:t>Where should management investigate?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510528"/>
            <a:ext cx="54864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Aptos"/>
              </a:rPr>
              <a:t>Financial Performance &amp; Business Intelligence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38BDF8"/>
                </a:solidFill>
                <a:latin typeface="Aptos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256032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8FAFC"/>
                </a:solidFill>
                <a:latin typeface="Aptos"/>
              </a:rPr>
              <a:t>How I built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804672"/>
            <a:ext cx="10332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CBD5E1"/>
                </a:solidFill>
                <a:latin typeface="Aptos"/>
              </a:rPr>
              <a:t>From raw financial data to a decision-focused dashboard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3337560" cy="1783080"/>
          </a:xfrm>
          <a:prstGeom prst="roundRect">
            <a:avLst/>
          </a:prstGeom>
          <a:solidFill>
            <a:srgbClr val="0F1C2E"/>
          </a:solidFill>
          <a:ln w="10160">
            <a:solidFill>
              <a:srgbClr val="263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04671" y="1581912"/>
            <a:ext cx="411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8BDF8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98448" y="1527048"/>
            <a:ext cx="2331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8FAFC"/>
                </a:solidFill>
                <a:latin typeface="Aptos"/>
              </a:rPr>
              <a:t>Clean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8448" y="2011680"/>
            <a:ext cx="23317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CBD5E1"/>
                </a:solidFill>
                <a:latin typeface="Aptos"/>
              </a:rPr>
              <a:t>Parsed dates, cleaned fields and classified missing discount values.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417320"/>
            <a:ext cx="3337560" cy="1783080"/>
          </a:xfrm>
          <a:prstGeom prst="roundRect">
            <a:avLst/>
          </a:prstGeom>
          <a:solidFill>
            <a:srgbClr val="0F1C2E"/>
          </a:solidFill>
          <a:ln w="10160">
            <a:solidFill>
              <a:srgbClr val="263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99432" y="1581912"/>
            <a:ext cx="411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8BDF8"/>
                </a:solidFill>
                <a:latin typeface="Apto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93208" y="1527048"/>
            <a:ext cx="2331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8FAFC"/>
                </a:solidFill>
                <a:latin typeface="Aptos"/>
              </a:rPr>
              <a:t>Validate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93208" y="2011680"/>
            <a:ext cx="23317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CBD5E1"/>
                </a:solidFill>
                <a:latin typeface="Aptos"/>
              </a:rPr>
              <a:t>Checked Sales = Gross Sales − Discounts and Profit = Sales − COGS.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1417320"/>
            <a:ext cx="3337560" cy="1783080"/>
          </a:xfrm>
          <a:prstGeom prst="roundRect">
            <a:avLst/>
          </a:prstGeom>
          <a:solidFill>
            <a:srgbClr val="0F1C2E"/>
          </a:solidFill>
          <a:ln w="10160">
            <a:solidFill>
              <a:srgbClr val="263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94192" y="1581912"/>
            <a:ext cx="411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8BDF8"/>
                </a:solidFill>
                <a:latin typeface="Aptos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87968" y="1527048"/>
            <a:ext cx="2331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8FAFC"/>
                </a:solidFill>
                <a:latin typeface="Aptos"/>
              </a:rPr>
              <a:t>Model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87968" y="2011680"/>
            <a:ext cx="23317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CBD5E1"/>
                </a:solidFill>
                <a:latin typeface="Aptos"/>
              </a:rPr>
              <a:t>Built Date, Product, Country and Segment dimensions around the fact table.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566160"/>
            <a:ext cx="3337560" cy="1783080"/>
          </a:xfrm>
          <a:prstGeom prst="roundRect">
            <a:avLst/>
          </a:prstGeom>
          <a:solidFill>
            <a:srgbClr val="0F1C2E"/>
          </a:solidFill>
          <a:ln w="10160">
            <a:solidFill>
              <a:srgbClr val="263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04671" y="3730752"/>
            <a:ext cx="411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8BDF8"/>
                </a:solidFill>
                <a:latin typeface="Aptos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98448" y="3675888"/>
            <a:ext cx="2331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8FAFC"/>
                </a:solidFill>
                <a:latin typeface="Aptos"/>
              </a:rPr>
              <a:t>Measure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98448" y="4160520"/>
            <a:ext cx="23317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CBD5E1"/>
                </a:solidFill>
                <a:latin typeface="Aptos"/>
              </a:rPr>
              <a:t>Created DAX KPIs for sales, profit, margin, discounts, loss rate and time intelligence.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34840" y="3566160"/>
            <a:ext cx="3337560" cy="1783080"/>
          </a:xfrm>
          <a:prstGeom prst="roundRect">
            <a:avLst/>
          </a:prstGeom>
          <a:solidFill>
            <a:srgbClr val="0F1C2E"/>
          </a:solidFill>
          <a:ln w="10160">
            <a:solidFill>
              <a:srgbClr val="263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99432" y="3730752"/>
            <a:ext cx="411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8BDF8"/>
                </a:solidFill>
                <a:latin typeface="Aptos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93208" y="3675888"/>
            <a:ext cx="2331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8FAFC"/>
                </a:solidFill>
                <a:latin typeface="Aptos"/>
              </a:rPr>
              <a:t>Analyze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93208" y="4160520"/>
            <a:ext cx="23317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CBD5E1"/>
                </a:solidFill>
                <a:latin typeface="Aptos"/>
              </a:rPr>
              <a:t>Compared trends, segments, countries, products and discount risk.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0" y="3566160"/>
            <a:ext cx="3337560" cy="1783080"/>
          </a:xfrm>
          <a:prstGeom prst="roundRect">
            <a:avLst/>
          </a:prstGeom>
          <a:solidFill>
            <a:srgbClr val="0F1C2E"/>
          </a:solidFill>
          <a:ln w="10160">
            <a:solidFill>
              <a:srgbClr val="263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394192" y="3730752"/>
            <a:ext cx="411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8BDF8"/>
                </a:solidFill>
                <a:latin typeface="Aptos"/>
              </a:rPr>
              <a:t>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87968" y="3675888"/>
            <a:ext cx="2331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8FAFC"/>
                </a:solidFill>
                <a:latin typeface="Aptos"/>
              </a:rPr>
              <a:t>Design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87968" y="4160520"/>
            <a:ext cx="23317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CBD5E1"/>
                </a:solidFill>
                <a:latin typeface="Aptos"/>
              </a:rPr>
              <a:t>Turned the analysis into six pages with one clear business story.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5806440"/>
            <a:ext cx="10789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22D3EE"/>
                </a:solidFill>
                <a:latin typeface="Aptos"/>
              </a:rPr>
              <a:t>Tools: Power BI  •  DAX  •  Power Query  •  Excel  •  Python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510528"/>
            <a:ext cx="54864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Aptos"/>
              </a:rPr>
              <a:t>Financial Performance &amp; Business Intelligence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38BDF8"/>
                </a:solidFill>
                <a:latin typeface="Aptos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256032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8FAFC"/>
                </a:solidFill>
                <a:latin typeface="Aptos"/>
              </a:rPr>
              <a:t>Executive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804672"/>
            <a:ext cx="10332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CBD5E1"/>
                </a:solidFill>
                <a:latin typeface="Aptos"/>
              </a:rPr>
              <a:t>The first screen gives the full financial picture in one place.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3657600" cy="4526280"/>
          </a:xfrm>
          <a:prstGeom prst="roundRect">
            <a:avLst/>
          </a:prstGeom>
          <a:solidFill>
            <a:srgbClr val="0F1C2E"/>
          </a:solidFill>
          <a:ln w="10160">
            <a:solidFill>
              <a:srgbClr val="263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755648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38BDF8"/>
                </a:solidFill>
                <a:latin typeface="Aptos"/>
              </a:rPr>
              <a:t>WHAT THIS PAGE ANSWERS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148840"/>
            <a:ext cx="29260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8FAFC"/>
                </a:solidFill>
                <a:latin typeface="Aptos"/>
              </a:rPr>
              <a:t>The first screen gives the full financial picture in one place.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33756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2D3EE"/>
                </a:solidFill>
                <a:latin typeface="Aptos"/>
              </a:rPr>
              <a:t>Key views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703320"/>
            <a:ext cx="2926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50" b="1">
                <a:solidFill>
                  <a:srgbClr val="38BDF8"/>
                </a:solidFill>
                <a:latin typeface="Aptos"/>
              </a:rPr>
              <a:t>• </a:t>
            </a:r>
            <a:r>
              <a:rPr sz="1450">
                <a:solidFill>
                  <a:srgbClr val="CBD5E1"/>
                </a:solidFill>
                <a:latin typeface="Aptos"/>
              </a:rPr>
              <a:t>Sales, profit and margin at a glance</a:t>
            </a:r>
          </a:p>
          <a:p>
            <a:pPr>
              <a:spcAft>
                <a:spcPts val="600"/>
              </a:spcAft>
            </a:pPr>
            <a:r>
              <a:rPr sz="1450" b="1">
                <a:solidFill>
                  <a:srgbClr val="38BDF8"/>
                </a:solidFill>
                <a:latin typeface="Aptos"/>
              </a:rPr>
              <a:t>• </a:t>
            </a:r>
            <a:r>
              <a:rPr sz="1450">
                <a:solidFill>
                  <a:srgbClr val="CBD5E1"/>
                </a:solidFill>
                <a:latin typeface="Aptos"/>
              </a:rPr>
              <a:t>Monthly sales trend</a:t>
            </a:r>
          </a:p>
          <a:p>
            <a:pPr>
              <a:spcAft>
                <a:spcPts val="600"/>
              </a:spcAft>
            </a:pPr>
            <a:r>
              <a:rPr sz="1450" b="1">
                <a:solidFill>
                  <a:srgbClr val="38BDF8"/>
                </a:solidFill>
                <a:latin typeface="Aptos"/>
              </a:rPr>
              <a:t>• </a:t>
            </a:r>
            <a:r>
              <a:rPr sz="1450">
                <a:solidFill>
                  <a:srgbClr val="CBD5E1"/>
                </a:solidFill>
                <a:latin typeface="Aptos"/>
              </a:rPr>
              <a:t>Segment, country and product view</a:t>
            </a:r>
          </a:p>
          <a:p>
            <a:pPr>
              <a:spcAft>
                <a:spcPts val="600"/>
              </a:spcAft>
            </a:pPr>
            <a:r>
              <a:rPr sz="1450" b="1">
                <a:solidFill>
                  <a:srgbClr val="38BDF8"/>
                </a:solidFill>
                <a:latin typeface="Aptos"/>
              </a:rPr>
              <a:t>• </a:t>
            </a:r>
            <a:r>
              <a:rPr sz="1450">
                <a:solidFill>
                  <a:srgbClr val="CBD5E1"/>
                </a:solidFill>
                <a:latin typeface="Aptos"/>
              </a:rPr>
              <a:t>Starting point for management review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98848" y="1389888"/>
            <a:ext cx="7095744" cy="4581144"/>
          </a:xfrm>
          <a:prstGeom prst="roundRect">
            <a:avLst/>
          </a:prstGeom>
          <a:solidFill>
            <a:srgbClr val="040A14"/>
          </a:solidFill>
          <a:ln w="10160">
            <a:solidFill>
              <a:srgbClr val="263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4424516" y="1389888"/>
            <a:ext cx="7416964" cy="4581143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02920" y="6510528"/>
            <a:ext cx="54864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Aptos"/>
              </a:rPr>
              <a:t>Financial Performance &amp; Business Intelligence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38BDF8"/>
                </a:solidFill>
                <a:latin typeface="Aptos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256032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8FAFC"/>
                </a:solidFill>
                <a:latin typeface="Aptos"/>
              </a:rPr>
              <a:t>Revenue &amp; Profitability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804672"/>
            <a:ext cx="10332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CBD5E1"/>
                </a:solidFill>
                <a:latin typeface="Aptos"/>
              </a:rPr>
              <a:t>This page moves from headline numbers to trends and drivers.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3657600" cy="4526280"/>
          </a:xfrm>
          <a:prstGeom prst="roundRect">
            <a:avLst/>
          </a:prstGeom>
          <a:solidFill>
            <a:srgbClr val="0F1C2E"/>
          </a:solidFill>
          <a:ln w="10160">
            <a:solidFill>
              <a:srgbClr val="263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755648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38BDF8"/>
                </a:solidFill>
                <a:latin typeface="Aptos"/>
              </a:rPr>
              <a:t>WHAT THIS PAGE ANSWERS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148840"/>
            <a:ext cx="29260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8FAFC"/>
                </a:solidFill>
                <a:latin typeface="Aptos"/>
              </a:rPr>
              <a:t>This page moves from headline numbers to trends and drivers.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4380" y="361188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dirty="0">
                <a:solidFill>
                  <a:srgbClr val="22D3EE"/>
                </a:solidFill>
                <a:latin typeface="Aptos"/>
              </a:rPr>
              <a:t>Key views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4380" y="3886200"/>
            <a:ext cx="2926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50" b="1" dirty="0">
                <a:solidFill>
                  <a:srgbClr val="38BDF8"/>
                </a:solidFill>
                <a:latin typeface="Aptos"/>
              </a:rPr>
              <a:t>• </a:t>
            </a:r>
            <a:r>
              <a:rPr sz="1450" dirty="0">
                <a:solidFill>
                  <a:srgbClr val="CBD5E1"/>
                </a:solidFill>
                <a:latin typeface="Aptos"/>
              </a:rPr>
              <a:t>Sales vs profit over time</a:t>
            </a:r>
          </a:p>
          <a:p>
            <a:pPr>
              <a:spcAft>
                <a:spcPts val="600"/>
              </a:spcAft>
            </a:pPr>
            <a:r>
              <a:rPr sz="1450" b="1" dirty="0">
                <a:solidFill>
                  <a:srgbClr val="38BDF8"/>
                </a:solidFill>
                <a:latin typeface="Aptos"/>
              </a:rPr>
              <a:t>• </a:t>
            </a:r>
            <a:r>
              <a:rPr sz="1450" dirty="0">
                <a:solidFill>
                  <a:srgbClr val="CBD5E1"/>
                </a:solidFill>
                <a:latin typeface="Aptos"/>
              </a:rPr>
              <a:t>Monthly profit performance</a:t>
            </a:r>
          </a:p>
          <a:p>
            <a:pPr>
              <a:spcAft>
                <a:spcPts val="600"/>
              </a:spcAft>
            </a:pPr>
            <a:r>
              <a:rPr sz="1450" b="1" dirty="0">
                <a:solidFill>
                  <a:srgbClr val="38BDF8"/>
                </a:solidFill>
                <a:latin typeface="Aptos"/>
              </a:rPr>
              <a:t>• </a:t>
            </a:r>
            <a:r>
              <a:rPr sz="1450" dirty="0">
                <a:solidFill>
                  <a:srgbClr val="CBD5E1"/>
                </a:solidFill>
                <a:latin typeface="Aptos"/>
              </a:rPr>
              <a:t>Country revenue &amp; profitability</a:t>
            </a:r>
          </a:p>
          <a:p>
            <a:pPr>
              <a:spcAft>
                <a:spcPts val="600"/>
              </a:spcAft>
            </a:pPr>
            <a:r>
              <a:rPr sz="1450" b="1" dirty="0">
                <a:solidFill>
                  <a:srgbClr val="38BDF8"/>
                </a:solidFill>
                <a:latin typeface="Aptos"/>
              </a:rPr>
              <a:t>• </a:t>
            </a:r>
            <a:r>
              <a:rPr sz="1450" dirty="0">
                <a:solidFill>
                  <a:srgbClr val="CBD5E1"/>
                </a:solidFill>
                <a:latin typeface="Aptos"/>
              </a:rPr>
              <a:t>Profit margin by segment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98848" y="1389888"/>
            <a:ext cx="7095744" cy="4581144"/>
          </a:xfrm>
          <a:prstGeom prst="roundRect">
            <a:avLst/>
          </a:prstGeom>
          <a:solidFill>
            <a:srgbClr val="040A14"/>
          </a:solidFill>
          <a:ln w="10160">
            <a:solidFill>
              <a:srgbClr val="263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498849" y="1389888"/>
            <a:ext cx="7095744" cy="455371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02920" y="6510528"/>
            <a:ext cx="54864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Aptos"/>
              </a:rPr>
              <a:t>Financial Performance &amp; Business Intelligence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38BDF8"/>
                </a:solidFill>
                <a:latin typeface="Aptos"/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256032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8FAFC"/>
                </a:solidFill>
                <a:latin typeface="Aptos"/>
              </a:rPr>
              <a:t>Business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804672"/>
            <a:ext cx="10332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CBD5E1"/>
                </a:solidFill>
                <a:latin typeface="Aptos"/>
              </a:rPr>
              <a:t>A deeper look at the commercial dimensions behind the numbers.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3657600" cy="4526280"/>
          </a:xfrm>
          <a:prstGeom prst="roundRect">
            <a:avLst/>
          </a:prstGeom>
          <a:solidFill>
            <a:srgbClr val="0F1C2E"/>
          </a:solidFill>
          <a:ln w="10160">
            <a:solidFill>
              <a:srgbClr val="263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755648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38BDF8"/>
                </a:solidFill>
                <a:latin typeface="Aptos"/>
              </a:rPr>
              <a:t>WHAT THIS PAGE ANSWERS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148840"/>
            <a:ext cx="29260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8FAFC"/>
                </a:solidFill>
                <a:latin typeface="Aptos"/>
              </a:rPr>
              <a:t>A deeper look at the commercial dimensions behind the numbers.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4380" y="3759068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dirty="0">
                <a:solidFill>
                  <a:srgbClr val="22D3EE"/>
                </a:solidFill>
                <a:latin typeface="Aptos"/>
              </a:rPr>
              <a:t>Key views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4165534"/>
            <a:ext cx="2926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50" b="1" dirty="0">
                <a:solidFill>
                  <a:srgbClr val="38BDF8"/>
                </a:solidFill>
                <a:latin typeface="Aptos"/>
              </a:rPr>
              <a:t>• </a:t>
            </a:r>
            <a:r>
              <a:rPr sz="1450" dirty="0">
                <a:solidFill>
                  <a:srgbClr val="CBD5E1"/>
                </a:solidFill>
                <a:latin typeface="Aptos"/>
              </a:rPr>
              <a:t>Monthly sales &amp; profit</a:t>
            </a:r>
          </a:p>
          <a:p>
            <a:pPr>
              <a:spcAft>
                <a:spcPts val="600"/>
              </a:spcAft>
            </a:pPr>
            <a:r>
              <a:rPr sz="1450" b="1" dirty="0">
                <a:solidFill>
                  <a:srgbClr val="38BDF8"/>
                </a:solidFill>
                <a:latin typeface="Aptos"/>
              </a:rPr>
              <a:t>• </a:t>
            </a:r>
            <a:r>
              <a:rPr sz="1450" dirty="0">
                <a:solidFill>
                  <a:srgbClr val="CBD5E1"/>
                </a:solidFill>
                <a:latin typeface="Aptos"/>
              </a:rPr>
              <a:t>Profit contribution by segment</a:t>
            </a:r>
          </a:p>
          <a:p>
            <a:pPr>
              <a:spcAft>
                <a:spcPts val="600"/>
              </a:spcAft>
            </a:pPr>
            <a:r>
              <a:rPr sz="1450" b="1" dirty="0">
                <a:solidFill>
                  <a:srgbClr val="38BDF8"/>
                </a:solidFill>
                <a:latin typeface="Aptos"/>
              </a:rPr>
              <a:t>• </a:t>
            </a:r>
            <a:r>
              <a:rPr sz="1450" dirty="0">
                <a:solidFill>
                  <a:srgbClr val="CBD5E1"/>
                </a:solidFill>
                <a:latin typeface="Aptos"/>
              </a:rPr>
              <a:t>Country-level profit</a:t>
            </a:r>
          </a:p>
          <a:p>
            <a:pPr>
              <a:spcAft>
                <a:spcPts val="600"/>
              </a:spcAft>
            </a:pPr>
            <a:r>
              <a:rPr sz="1450" b="1" dirty="0">
                <a:solidFill>
                  <a:srgbClr val="38BDF8"/>
                </a:solidFill>
                <a:latin typeface="Aptos"/>
              </a:rPr>
              <a:t>• </a:t>
            </a:r>
            <a:r>
              <a:rPr sz="1450" dirty="0">
                <a:solidFill>
                  <a:srgbClr val="CBD5E1"/>
                </a:solidFill>
                <a:latin typeface="Aptos"/>
              </a:rPr>
              <a:t>Sales mix across segments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98848" y="1389888"/>
            <a:ext cx="7095744" cy="4581144"/>
          </a:xfrm>
          <a:prstGeom prst="roundRect">
            <a:avLst/>
          </a:prstGeom>
          <a:solidFill>
            <a:srgbClr val="040A14"/>
          </a:solidFill>
          <a:ln w="10160">
            <a:solidFill>
              <a:srgbClr val="263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4526281" y="1389888"/>
            <a:ext cx="7068312" cy="455371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02920" y="6510528"/>
            <a:ext cx="54864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Aptos"/>
              </a:rPr>
              <a:t>Financial Performance &amp; Business Intelligence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38BDF8"/>
                </a:solidFill>
                <a:latin typeface="Aptos"/>
              </a:rP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256032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8FAFC"/>
                </a:solidFill>
                <a:latin typeface="Aptos"/>
              </a:rPr>
              <a:t>Profitability Risk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804672"/>
            <a:ext cx="10332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CBD5E1"/>
                </a:solidFill>
                <a:latin typeface="Aptos"/>
              </a:rPr>
              <a:t>The focus shifts from growth to where profit may be under pressure.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3657600" cy="4526280"/>
          </a:xfrm>
          <a:prstGeom prst="roundRect">
            <a:avLst/>
          </a:prstGeom>
          <a:solidFill>
            <a:srgbClr val="0F1C2E"/>
          </a:solidFill>
          <a:ln w="10160">
            <a:solidFill>
              <a:srgbClr val="263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755648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38BDF8"/>
                </a:solidFill>
                <a:latin typeface="Aptos"/>
              </a:rPr>
              <a:t>WHAT THIS PAGE ANSWERS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148840"/>
            <a:ext cx="29260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8FAFC"/>
                </a:solidFill>
                <a:latin typeface="Aptos"/>
              </a:rPr>
              <a:t>The focus shifts from growth to where profit may be under pressure.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4380" y="3661533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dirty="0">
                <a:solidFill>
                  <a:srgbClr val="22D3EE"/>
                </a:solidFill>
                <a:latin typeface="Aptos"/>
              </a:rPr>
              <a:t>Key views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984031"/>
            <a:ext cx="2926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50" b="1" dirty="0">
                <a:solidFill>
                  <a:srgbClr val="38BDF8"/>
                </a:solidFill>
                <a:latin typeface="Aptos"/>
              </a:rPr>
              <a:t>• </a:t>
            </a:r>
            <a:r>
              <a:rPr sz="1450" dirty="0">
                <a:solidFill>
                  <a:srgbClr val="CBD5E1"/>
                </a:solidFill>
                <a:latin typeface="Aptos"/>
              </a:rPr>
              <a:t>Profit by discount band</a:t>
            </a:r>
          </a:p>
          <a:p>
            <a:pPr>
              <a:spcAft>
                <a:spcPts val="600"/>
              </a:spcAft>
            </a:pPr>
            <a:r>
              <a:rPr sz="1450" b="1" dirty="0">
                <a:solidFill>
                  <a:srgbClr val="38BDF8"/>
                </a:solidFill>
                <a:latin typeface="Aptos"/>
              </a:rPr>
              <a:t>• </a:t>
            </a:r>
            <a:r>
              <a:rPr sz="1450" dirty="0">
                <a:solidFill>
                  <a:srgbClr val="CBD5E1"/>
                </a:solidFill>
                <a:latin typeface="Aptos"/>
              </a:rPr>
              <a:t>Discount exposure</a:t>
            </a:r>
          </a:p>
          <a:p>
            <a:pPr>
              <a:spcAft>
                <a:spcPts val="600"/>
              </a:spcAft>
            </a:pPr>
            <a:r>
              <a:rPr sz="1450" b="1" dirty="0">
                <a:solidFill>
                  <a:srgbClr val="38BDF8"/>
                </a:solidFill>
                <a:latin typeface="Aptos"/>
              </a:rPr>
              <a:t>• </a:t>
            </a:r>
            <a:r>
              <a:rPr sz="1450" dirty="0">
                <a:solidFill>
                  <a:srgbClr val="CBD5E1"/>
                </a:solidFill>
                <a:latin typeface="Aptos"/>
              </a:rPr>
              <a:t>Loss-making records by product</a:t>
            </a:r>
          </a:p>
          <a:p>
            <a:pPr>
              <a:spcAft>
                <a:spcPts val="600"/>
              </a:spcAft>
            </a:pPr>
            <a:r>
              <a:rPr sz="1450" b="1" dirty="0">
                <a:solidFill>
                  <a:srgbClr val="38BDF8"/>
                </a:solidFill>
                <a:latin typeface="Aptos"/>
              </a:rPr>
              <a:t>• </a:t>
            </a:r>
            <a:r>
              <a:rPr sz="1450" dirty="0">
                <a:solidFill>
                  <a:srgbClr val="CBD5E1"/>
                </a:solidFill>
                <a:latin typeface="Aptos"/>
              </a:rPr>
              <a:t>Profit by discount-rate band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98848" y="1389888"/>
            <a:ext cx="7095744" cy="4581144"/>
          </a:xfrm>
          <a:prstGeom prst="roundRect">
            <a:avLst/>
          </a:prstGeom>
          <a:solidFill>
            <a:srgbClr val="040A14"/>
          </a:solidFill>
          <a:ln w="10160">
            <a:solidFill>
              <a:srgbClr val="263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2920" y="6510528"/>
            <a:ext cx="54864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Aptos"/>
              </a:rPr>
              <a:t>Financial Performance &amp; Business Intelligence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364E6B33-B447-8D2C-464A-CEDECF4F08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8847" y="1389887"/>
            <a:ext cx="7095744" cy="455371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38BDF8"/>
                </a:solidFill>
                <a:latin typeface="Aptos"/>
              </a:rP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256032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8FAFC"/>
                </a:solidFill>
                <a:latin typeface="Aptos"/>
              </a:rPr>
              <a:t>Management Decision Center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804672"/>
            <a:ext cx="10332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CBD5E1"/>
                </a:solidFill>
                <a:latin typeface="Aptos"/>
              </a:rPr>
              <a:t>A compact page built around signals that need management attention.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3657600" cy="4526280"/>
          </a:xfrm>
          <a:prstGeom prst="roundRect">
            <a:avLst/>
          </a:prstGeom>
          <a:solidFill>
            <a:srgbClr val="0F1C2E"/>
          </a:solidFill>
          <a:ln w="10160">
            <a:solidFill>
              <a:srgbClr val="263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755648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38BDF8"/>
                </a:solidFill>
                <a:latin typeface="Aptos"/>
              </a:rPr>
              <a:t>WHAT THIS PAGE ANSWERS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148840"/>
            <a:ext cx="29260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8FAFC"/>
                </a:solidFill>
                <a:latin typeface="Aptos"/>
              </a:rPr>
              <a:t>A compact page built around signals that need management attention.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4380" y="3629479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dirty="0">
                <a:solidFill>
                  <a:srgbClr val="22D3EE"/>
                </a:solidFill>
                <a:latin typeface="Aptos"/>
              </a:rPr>
              <a:t>Key views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4380" y="4036387"/>
            <a:ext cx="2926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50" b="1" dirty="0">
                <a:solidFill>
                  <a:srgbClr val="38BDF8"/>
                </a:solidFill>
                <a:latin typeface="Aptos"/>
              </a:rPr>
              <a:t>• </a:t>
            </a:r>
            <a:r>
              <a:rPr sz="1450" dirty="0">
                <a:solidFill>
                  <a:srgbClr val="CBD5E1"/>
                </a:solidFill>
                <a:latin typeface="Aptos"/>
              </a:rPr>
              <a:t>Sales mix by discount band</a:t>
            </a:r>
          </a:p>
          <a:p>
            <a:pPr>
              <a:spcAft>
                <a:spcPts val="600"/>
              </a:spcAft>
            </a:pPr>
            <a:r>
              <a:rPr sz="1450" b="1" dirty="0">
                <a:solidFill>
                  <a:srgbClr val="38BDF8"/>
                </a:solidFill>
                <a:latin typeface="Aptos"/>
              </a:rPr>
              <a:t>• </a:t>
            </a:r>
            <a:r>
              <a:rPr sz="1450" dirty="0">
                <a:solidFill>
                  <a:srgbClr val="CBD5E1"/>
                </a:solidFill>
                <a:latin typeface="Aptos"/>
              </a:rPr>
              <a:t>Current profit margin</a:t>
            </a:r>
          </a:p>
          <a:p>
            <a:pPr>
              <a:spcAft>
                <a:spcPts val="600"/>
              </a:spcAft>
            </a:pPr>
            <a:r>
              <a:rPr sz="1450" b="1" dirty="0">
                <a:solidFill>
                  <a:srgbClr val="38BDF8"/>
                </a:solidFill>
                <a:latin typeface="Aptos"/>
              </a:rPr>
              <a:t>• </a:t>
            </a:r>
            <a:r>
              <a:rPr sz="1450" dirty="0">
                <a:solidFill>
                  <a:srgbClr val="CBD5E1"/>
                </a:solidFill>
                <a:latin typeface="Aptos"/>
              </a:rPr>
              <a:t>Loss and discount indicators</a:t>
            </a:r>
          </a:p>
          <a:p>
            <a:pPr>
              <a:spcAft>
                <a:spcPts val="600"/>
              </a:spcAft>
            </a:pPr>
            <a:r>
              <a:rPr sz="1450" b="1" dirty="0">
                <a:solidFill>
                  <a:srgbClr val="38BDF8"/>
                </a:solidFill>
                <a:latin typeface="Aptos"/>
              </a:rPr>
              <a:t>• </a:t>
            </a:r>
            <a:r>
              <a:rPr sz="1450" dirty="0">
                <a:solidFill>
                  <a:srgbClr val="CBD5E1"/>
                </a:solidFill>
                <a:latin typeface="Aptos"/>
              </a:rPr>
              <a:t>Product profitability and profit contribution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98848" y="1389888"/>
            <a:ext cx="7095744" cy="4581144"/>
          </a:xfrm>
          <a:prstGeom prst="roundRect">
            <a:avLst/>
          </a:prstGeom>
          <a:solidFill>
            <a:srgbClr val="040A14"/>
          </a:solidFill>
          <a:ln w="10160">
            <a:solidFill>
              <a:srgbClr val="263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4526280" y="1389888"/>
            <a:ext cx="7095744" cy="458114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02920" y="6510528"/>
            <a:ext cx="54864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Aptos"/>
              </a:rPr>
              <a:t>Financial Performance &amp; Business Intelligence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38BDF8"/>
                </a:solidFill>
                <a:latin typeface="Aptos"/>
              </a:rPr>
              <a:t>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256032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8FAFC"/>
                </a:solidFill>
                <a:latin typeface="Aptos"/>
              </a:rPr>
              <a:t>Global Financial Footprint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804672"/>
            <a:ext cx="10332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CBD5E1"/>
                </a:solidFill>
                <a:latin typeface="Aptos"/>
              </a:rPr>
              <a:t>A geographic view of where the financial activity is happening.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3657600" cy="4526280"/>
          </a:xfrm>
          <a:prstGeom prst="roundRect">
            <a:avLst/>
          </a:prstGeom>
          <a:solidFill>
            <a:srgbClr val="0F1C2E"/>
          </a:solidFill>
          <a:ln w="10160">
            <a:solidFill>
              <a:srgbClr val="263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755648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38BDF8"/>
                </a:solidFill>
                <a:latin typeface="Aptos"/>
              </a:rPr>
              <a:t>WHAT THIS PAGE ANSWERS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148840"/>
            <a:ext cx="29260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8FAFC"/>
                </a:solidFill>
                <a:latin typeface="Aptos"/>
              </a:rPr>
              <a:t>A geographic view of where the financial activity is happening.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33756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2D3EE"/>
                </a:solidFill>
                <a:latin typeface="Aptos"/>
              </a:rPr>
              <a:t>Key views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703320"/>
            <a:ext cx="2926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50" b="1">
                <a:solidFill>
                  <a:srgbClr val="38BDF8"/>
                </a:solidFill>
                <a:latin typeface="Aptos"/>
              </a:rPr>
              <a:t>• </a:t>
            </a:r>
            <a:r>
              <a:rPr sz="1450">
                <a:solidFill>
                  <a:srgbClr val="CBD5E1"/>
                </a:solidFill>
                <a:latin typeface="Aptos"/>
              </a:rPr>
              <a:t>Country-level sales markers</a:t>
            </a:r>
          </a:p>
          <a:p>
            <a:pPr>
              <a:spcAft>
                <a:spcPts val="600"/>
              </a:spcAft>
            </a:pPr>
            <a:r>
              <a:rPr sz="1450" b="1">
                <a:solidFill>
                  <a:srgbClr val="38BDF8"/>
                </a:solidFill>
                <a:latin typeface="Aptos"/>
              </a:rPr>
              <a:t>• </a:t>
            </a:r>
            <a:r>
              <a:rPr sz="1450">
                <a:solidFill>
                  <a:srgbClr val="CBD5E1"/>
                </a:solidFill>
                <a:latin typeface="Aptos"/>
              </a:rPr>
              <a:t>Global distribution</a:t>
            </a:r>
          </a:p>
          <a:p>
            <a:pPr>
              <a:spcAft>
                <a:spcPts val="600"/>
              </a:spcAft>
            </a:pPr>
            <a:r>
              <a:rPr sz="1450" b="1">
                <a:solidFill>
                  <a:srgbClr val="38BDF8"/>
                </a:solidFill>
                <a:latin typeface="Aptos"/>
              </a:rPr>
              <a:t>• </a:t>
            </a:r>
            <a:r>
              <a:rPr sz="1450">
                <a:solidFill>
                  <a:srgbClr val="CBD5E1"/>
                </a:solidFill>
                <a:latin typeface="Aptos"/>
              </a:rPr>
              <a:t>Financial exposure by geography</a:t>
            </a:r>
          </a:p>
          <a:p>
            <a:pPr>
              <a:spcAft>
                <a:spcPts val="600"/>
              </a:spcAft>
            </a:pPr>
            <a:r>
              <a:rPr sz="1450" b="1">
                <a:solidFill>
                  <a:srgbClr val="38BDF8"/>
                </a:solidFill>
                <a:latin typeface="Aptos"/>
              </a:rPr>
              <a:t>• </a:t>
            </a:r>
            <a:r>
              <a:rPr sz="1450">
                <a:solidFill>
                  <a:srgbClr val="CBD5E1"/>
                </a:solidFill>
                <a:latin typeface="Aptos"/>
              </a:rPr>
              <a:t>Designed for a quick global read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98848" y="1389888"/>
            <a:ext cx="7095744" cy="4581144"/>
          </a:xfrm>
          <a:prstGeom prst="roundRect">
            <a:avLst/>
          </a:prstGeom>
          <a:solidFill>
            <a:srgbClr val="040A14"/>
          </a:solidFill>
          <a:ln w="10160">
            <a:solidFill>
              <a:srgbClr val="263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4526280" y="1389888"/>
            <a:ext cx="7068311" cy="458114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02920" y="6510528"/>
            <a:ext cx="5486400" cy="2154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IN" sz="800" b="0" dirty="0">
                <a:solidFill>
                  <a:srgbClr val="94A3B8"/>
                </a:solidFill>
                <a:latin typeface="Aptos"/>
              </a:rPr>
              <a:t>Financial Performance &amp; </a:t>
            </a:r>
            <a:r>
              <a:rPr lang="en-IN" sz="800" b="0" dirty="0" err="1">
                <a:solidFill>
                  <a:srgbClr val="94A3B8"/>
                </a:solidFill>
                <a:latin typeface="Aptos"/>
              </a:rPr>
              <a:t>Busines</a:t>
            </a:r>
            <a:r>
              <a:rPr lang="en-IN" sz="800" b="0" dirty="0">
                <a:solidFill>
                  <a:srgbClr val="94A3B8"/>
                </a:solidFill>
                <a:latin typeface="Aptos"/>
              </a:rPr>
              <a:t> Intelligence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38BDF8"/>
                </a:solidFill>
                <a:latin typeface="Aptos"/>
              </a:rPr>
              <a:t>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256032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8FAFC"/>
                </a:solidFill>
                <a:latin typeface="Aptos"/>
              </a:rPr>
              <a:t>What I got from the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804672"/>
            <a:ext cx="10332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CBD5E1"/>
                </a:solidFill>
                <a:latin typeface="Aptos"/>
              </a:rPr>
              <a:t>The point was not just to show numbers — it was to find where to ask better questions.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2011680" cy="914400"/>
          </a:xfrm>
          <a:prstGeom prst="roundRect">
            <a:avLst/>
          </a:prstGeom>
          <a:solidFill>
            <a:srgbClr val="0F1C2E"/>
          </a:solidFill>
          <a:ln w="10160">
            <a:solidFill>
              <a:srgbClr val="263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536192"/>
            <a:ext cx="17373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94A3B8"/>
                </a:solidFill>
                <a:latin typeface="Aptos"/>
              </a:rPr>
              <a:t>TOTAL SALES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783080"/>
            <a:ext cx="1737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38BDF8"/>
                </a:solidFill>
                <a:latin typeface="Aptos"/>
              </a:rPr>
              <a:t>118.73M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34640" y="1417320"/>
            <a:ext cx="2011680" cy="914400"/>
          </a:xfrm>
          <a:prstGeom prst="roundRect">
            <a:avLst/>
          </a:prstGeom>
          <a:solidFill>
            <a:srgbClr val="0F1C2E"/>
          </a:solidFill>
          <a:ln w="10160">
            <a:solidFill>
              <a:srgbClr val="263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971800" y="1536192"/>
            <a:ext cx="17373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94A3B8"/>
                </a:solidFill>
                <a:latin typeface="Aptos"/>
              </a:rPr>
              <a:t>TOTAL PROFIT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71800" y="1783080"/>
            <a:ext cx="1737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34D399"/>
                </a:solidFill>
                <a:latin typeface="Aptos"/>
              </a:rPr>
              <a:t>16.89M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983480" y="1417320"/>
            <a:ext cx="2011680" cy="914400"/>
          </a:xfrm>
          <a:prstGeom prst="roundRect">
            <a:avLst/>
          </a:prstGeom>
          <a:solidFill>
            <a:srgbClr val="0F1C2E"/>
          </a:solidFill>
          <a:ln w="10160">
            <a:solidFill>
              <a:srgbClr val="263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120640" y="1536192"/>
            <a:ext cx="17373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94A3B8"/>
                </a:solidFill>
                <a:latin typeface="Aptos"/>
              </a:rPr>
              <a:t>PROFIT MARGIN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0" y="1783080"/>
            <a:ext cx="1737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8B5CF6"/>
                </a:solidFill>
                <a:latin typeface="Aptos"/>
              </a:rPr>
              <a:t>14.23%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0" y="1417320"/>
            <a:ext cx="2011680" cy="914400"/>
          </a:xfrm>
          <a:prstGeom prst="roundRect">
            <a:avLst/>
          </a:prstGeom>
          <a:solidFill>
            <a:srgbClr val="0F1C2E"/>
          </a:solidFill>
          <a:ln w="10160">
            <a:solidFill>
              <a:srgbClr val="263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269480" y="1536192"/>
            <a:ext cx="17373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94A3B8"/>
                </a:solidFill>
                <a:latin typeface="Aptos"/>
              </a:rPr>
              <a:t>DISCOUNTS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69480" y="1783080"/>
            <a:ext cx="1737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FBBF24"/>
                </a:solidFill>
                <a:latin typeface="Aptos"/>
              </a:rPr>
              <a:t>9.21M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81160" y="1417320"/>
            <a:ext cx="2011680" cy="914400"/>
          </a:xfrm>
          <a:prstGeom prst="roundRect">
            <a:avLst/>
          </a:prstGeom>
          <a:solidFill>
            <a:srgbClr val="0F1C2E"/>
          </a:solidFill>
          <a:ln w="10160">
            <a:solidFill>
              <a:srgbClr val="263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418320" y="1536192"/>
            <a:ext cx="17373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94A3B8"/>
                </a:solidFill>
                <a:latin typeface="Aptos"/>
              </a:rPr>
              <a:t>LOSS RECORD RATE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0" y="1783080"/>
            <a:ext cx="1737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FB7185"/>
                </a:solidFill>
                <a:latin typeface="Aptos"/>
              </a:rPr>
              <a:t>8.29%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2788920"/>
            <a:ext cx="5394960" cy="2926080"/>
          </a:xfrm>
          <a:prstGeom prst="roundRect">
            <a:avLst/>
          </a:prstGeom>
          <a:solidFill>
            <a:srgbClr val="0F1C2E"/>
          </a:solidFill>
          <a:ln w="10160">
            <a:solidFill>
              <a:srgbClr val="263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60120" y="306324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8BDF8"/>
                </a:solidFill>
                <a:latin typeface="Aptos"/>
              </a:rPr>
              <a:t>BUSINESS SIGNALS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3474720"/>
            <a:ext cx="4663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38BDF8"/>
                </a:solidFill>
                <a:latin typeface="Aptos"/>
              </a:rPr>
              <a:t>• </a:t>
            </a:r>
            <a:r>
              <a:rPr sz="1400">
                <a:solidFill>
                  <a:srgbClr val="CBD5E1"/>
                </a:solidFill>
                <a:latin typeface="Aptos"/>
              </a:rPr>
              <a:t>Government was the strongest profit-contributing segment in the analysis.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38BDF8"/>
                </a:solidFill>
                <a:latin typeface="Aptos"/>
              </a:rPr>
              <a:t>• </a:t>
            </a:r>
            <a:r>
              <a:rPr sz="1400">
                <a:solidFill>
                  <a:srgbClr val="CBD5E1"/>
                </a:solidFill>
                <a:latin typeface="Aptos"/>
              </a:rPr>
              <a:t>Paseo was the highest-profit product.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38BDF8"/>
                </a:solidFill>
                <a:latin typeface="Aptos"/>
              </a:rPr>
              <a:t>• </a:t>
            </a:r>
            <a:r>
              <a:rPr sz="1400">
                <a:solidFill>
                  <a:srgbClr val="CBD5E1"/>
                </a:solidFill>
                <a:latin typeface="Aptos"/>
              </a:rPr>
              <a:t>France had the highest country-level profit.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38BDF8"/>
                </a:solidFill>
                <a:latin typeface="Aptos"/>
              </a:rPr>
              <a:t>• </a:t>
            </a:r>
            <a:r>
              <a:rPr sz="1400">
                <a:solidFill>
                  <a:srgbClr val="CBD5E1"/>
                </a:solidFill>
                <a:latin typeface="Aptos"/>
              </a:rPr>
              <a:t>Discount bands showed clear differences in profitability.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38BDF8"/>
                </a:solidFill>
                <a:latin typeface="Aptos"/>
              </a:rPr>
              <a:t>• </a:t>
            </a:r>
            <a:r>
              <a:rPr sz="1400">
                <a:solidFill>
                  <a:srgbClr val="CBD5E1"/>
                </a:solidFill>
                <a:latin typeface="Aptos"/>
              </a:rPr>
              <a:t>58 records were loss-making, giving management a clear area to investigate.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55080" y="2788920"/>
            <a:ext cx="5166360" cy="2926080"/>
          </a:xfrm>
          <a:prstGeom prst="roundRect">
            <a:avLst/>
          </a:prstGeom>
          <a:solidFill>
            <a:srgbClr val="0F1C2E"/>
          </a:solidFill>
          <a:ln w="10160">
            <a:solidFill>
              <a:srgbClr val="263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629400" y="3063240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2D3EE"/>
                </a:solidFill>
                <a:latin typeface="Aptos"/>
              </a:rPr>
              <a:t>WHAT THIS PROJECT SHOWS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29400" y="3474720"/>
            <a:ext cx="44805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38BDF8"/>
                </a:solidFill>
                <a:latin typeface="Aptos"/>
              </a:rPr>
              <a:t>• </a:t>
            </a:r>
            <a:r>
              <a:rPr sz="1400">
                <a:solidFill>
                  <a:srgbClr val="CBD5E1"/>
                </a:solidFill>
                <a:latin typeface="Aptos"/>
              </a:rPr>
              <a:t>I can clean and validate data before building visuals.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38BDF8"/>
                </a:solidFill>
                <a:latin typeface="Aptos"/>
              </a:rPr>
              <a:t>• </a:t>
            </a:r>
            <a:r>
              <a:rPr sz="1400">
                <a:solidFill>
                  <a:srgbClr val="CBD5E1"/>
                </a:solidFill>
                <a:latin typeface="Aptos"/>
              </a:rPr>
              <a:t>I can build a usable Power BI model and DAX KPI layer.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38BDF8"/>
                </a:solidFill>
                <a:latin typeface="Aptos"/>
              </a:rPr>
              <a:t>• </a:t>
            </a:r>
            <a:r>
              <a:rPr sz="1400">
                <a:solidFill>
                  <a:srgbClr val="CBD5E1"/>
                </a:solidFill>
                <a:latin typeface="Aptos"/>
              </a:rPr>
              <a:t>I can move from reporting into profitability and risk analysis.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38BDF8"/>
                </a:solidFill>
                <a:latin typeface="Aptos"/>
              </a:rPr>
              <a:t>• </a:t>
            </a:r>
            <a:r>
              <a:rPr sz="1400">
                <a:solidFill>
                  <a:srgbClr val="CBD5E1"/>
                </a:solidFill>
                <a:latin typeface="Aptos"/>
              </a:rPr>
              <a:t>I can present findings in a way that a business user can follow.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400" y="5349240"/>
            <a:ext cx="4389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  <a:latin typeface="Aptos"/>
              </a:rPr>
              <a:t>GitHub + interactive Power BI report 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510528"/>
            <a:ext cx="54864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Aptos"/>
              </a:rPr>
              <a:t>Financial Performance &amp; Business Intelligence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833</Words>
  <Application>Microsoft Office PowerPoint</Application>
  <PresentationFormat>Widescreen</PresentationFormat>
  <Paragraphs>154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Abhishek Pande</cp:lastModifiedBy>
  <cp:revision>2</cp:revision>
  <dcterms:created xsi:type="dcterms:W3CDTF">2013-01-27T09:14:16Z</dcterms:created>
  <dcterms:modified xsi:type="dcterms:W3CDTF">2026-09-21T06:44:12Z</dcterms:modified>
  <cp:category/>
</cp:coreProperties>
</file>